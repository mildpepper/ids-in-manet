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A27AC72-2966-4676-A4CC-265CC2D660C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2372B3-703A-4411-822F-79C1901219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5952C5-E0B6-4776-B9DF-E73BA7D03B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BA99AA-2B89-4BFC-819B-E8F0907ECF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887602-615B-4013-B4E1-9FA5F0EC33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F222AA-2237-49B7-A392-9D1E9A4EC4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DF0609-489C-4832-9C16-9F51F4C7D6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6F41D3-0F3B-425A-A5F2-FB3BA8BB6F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6AF7AE-B326-46B8-BE95-EC4878DEC2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6583680" y="0"/>
            <a:ext cx="2559960" cy="5143320"/>
          </a:xfrm>
          <a:prstGeom prst="rect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457200" y="1828800"/>
            <a:ext cx="5760360" cy="45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50292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BLACK HOLE ATTACK</a:t>
            </a:r>
            <a:endParaRPr lang="en-IN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114300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DETECTION IN AODV MANETs</a:t>
            </a:r>
            <a:endParaRPr lang="en-IN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201168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0" i="1" u="none" strike="noStrik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A Hybrid XGBoost + Autoencoder System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2606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Scenario-Generalizable Intrusion Detection for Mobile Ad-hoc Networks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0" y="4480560"/>
            <a:ext cx="9143640" cy="662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45262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Network Security  |  Machine Learning  |  MANET Research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PROBLEM STATEMENT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365760" y="960120"/>
            <a:ext cx="393156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adc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365760" y="960120"/>
            <a:ext cx="3931560" cy="383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457200" y="9874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📡  What is a MANET?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502920" y="1417320"/>
            <a:ext cx="36572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Self-organizing wireless network — no fixed infrastructure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Nodes act as both hosts and routers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AODV protocol discovers routes on-demand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Used in: disaster relief, military, IoT mesh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4846320" y="960120"/>
            <a:ext cx="393156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4846320" y="960120"/>
            <a:ext cx="3931560" cy="383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4937760" y="9874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⚠️  Black Hole Attack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4983480" y="1417320"/>
            <a:ext cx="365724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Malicious node claims shortest path to destination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Attracts all traffic toward itself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Silently drops every packet — disrupts the network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Hard to detect: mimics legitimate routing behavior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DATASET &amp; FEATURE ENGINEERING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365760" y="9144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Train / Test Scenario Split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" name="Table 0"/>
          <p:cNvGraphicFramePr/>
          <p:nvPr/>
        </p:nvGraphicFramePr>
        <p:xfrm>
          <a:off x="365760" y="1325880"/>
          <a:ext cx="3840120" cy="82404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Split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Scenarios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Train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0_nodes, 3_nodes, 7_nodes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5_nodes, 10_nodes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" name="Text 3"/>
          <p:cNvSpPr/>
          <p:nvPr/>
        </p:nvSpPr>
        <p:spPr>
          <a:xfrm>
            <a:off x="365760" y="23317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Time-Window Aggregation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365760" y="2724840"/>
            <a:ext cx="3840120" cy="1005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502920" y="2724840"/>
            <a:ext cx="3657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5-second bins per (Scenario, Run, NodeID)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Aggregated: sum of packets | Label: max (1 if any malicious activity)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Silent nodes (all zero) removed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4754880" y="9144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Feature Set (8 Features)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" name="Table 1"/>
          <p:cNvGraphicFramePr/>
          <p:nvPr/>
        </p:nvGraphicFramePr>
        <p:xfrm>
          <a:off x="4754880" y="1325880"/>
          <a:ext cx="4023000" cy="177804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Feature</a:t>
                      </a:r>
                      <a:endParaRPr lang="en-IN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Type</a:t>
                      </a:r>
                      <a:endParaRPr lang="en-IN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RREQ_Sent / RREQ_Recv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Raw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RREP_Sent / RREP_Recv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Raw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Pkts_Forwarded / Pkts_Dropped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Raw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Drop_Ratio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Engineered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RREP_to_RREQ_Ratio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Engineered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0cdd8"/>
                      </a:solidFill>
                      <a:prstDash val="solid"/>
                    </a:lnL>
                    <a:lnR w="12240">
                      <a:solidFill>
                        <a:srgbClr val="c0cdd8"/>
                      </a:solidFill>
                      <a:prstDash val="solid"/>
                    </a:lnR>
                    <a:lnT w="12240">
                      <a:solidFill>
                        <a:srgbClr val="c0cdd8"/>
                      </a:solidFill>
                      <a:prstDash val="solid"/>
                    </a:lnT>
                    <a:lnB w="12240">
                      <a:solidFill>
                        <a:srgbClr val="c0cdd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" name="Text 7"/>
          <p:cNvSpPr/>
          <p:nvPr/>
        </p:nvSpPr>
        <p:spPr>
          <a:xfrm>
            <a:off x="4754880" y="30175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Key Insight: Engineered Ratios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4754880" y="3401640"/>
            <a:ext cx="4023000" cy="123408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4892040" y="3493080"/>
            <a:ext cx="3748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Drop_Ratio →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High value exposes packet-dropping behavior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RREP/RREQ → </a:t>
            </a: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Abnormally high replies reveal route fabrication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HYBRID CASCADE ARCHITECTURE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3474720" y="896040"/>
            <a:ext cx="2194200" cy="566640"/>
          </a:xfrm>
          <a:prstGeom prst="rect">
            <a:avLst/>
          </a:prstGeom>
          <a:solidFill>
            <a:srgbClr val="028090"/>
          </a:solidFill>
          <a:ln w="12700">
            <a:solidFill>
              <a:srgbClr val="a8dad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3520440" y="1005840"/>
            <a:ext cx="2102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Raw AODV Logs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4"/>
          <p:cNvSpPr/>
          <p:nvPr/>
        </p:nvSpPr>
        <p:spPr>
          <a:xfrm>
            <a:off x="4572000" y="1463040"/>
            <a:ext cx="360" cy="320040"/>
          </a:xfrm>
          <a:prstGeom prst="line">
            <a:avLst/>
          </a:prstGeom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5"/>
          <p:cNvSpPr/>
          <p:nvPr/>
        </p:nvSpPr>
        <p:spPr>
          <a:xfrm>
            <a:off x="2926080" y="1783080"/>
            <a:ext cx="3291480" cy="621360"/>
          </a:xfrm>
          <a:prstGeom prst="rect">
            <a:avLst/>
          </a:prstGeom>
          <a:solidFill>
            <a:srgbClr val="1b3a5c"/>
          </a:solidFill>
          <a:ln w="12700">
            <a:solidFill>
              <a:srgbClr val="a8dad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2971800" y="18288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 Engineering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2971800" y="2130480"/>
            <a:ext cx="3200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5-sec windows · Drop_Ratio · RREP/RREQ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2286000" y="2606040"/>
            <a:ext cx="4572000" cy="360"/>
          </a:xfrm>
          <a:prstGeom prst="line">
            <a:avLst/>
          </a:prstGeom>
          <a:ln w="12700">
            <a:solidFill>
              <a:srgbClr val="a8da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9"/>
          <p:cNvSpPr/>
          <p:nvPr/>
        </p:nvSpPr>
        <p:spPr>
          <a:xfrm>
            <a:off x="2286000" y="2606040"/>
            <a:ext cx="360" cy="347400"/>
          </a:xfrm>
          <a:prstGeom prst="line">
            <a:avLst/>
          </a:prstGeom>
          <a:ln w="12700">
            <a:solidFill>
              <a:srgbClr val="a8da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6858000" y="2606040"/>
            <a:ext cx="360" cy="347400"/>
          </a:xfrm>
          <a:prstGeom prst="line">
            <a:avLst/>
          </a:prstGeom>
          <a:ln w="12700">
            <a:solidFill>
              <a:srgbClr val="a8da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1"/>
          <p:cNvSpPr/>
          <p:nvPr/>
        </p:nvSpPr>
        <p:spPr>
          <a:xfrm>
            <a:off x="914400" y="2953440"/>
            <a:ext cx="2742840" cy="776880"/>
          </a:xfrm>
          <a:prstGeom prst="rect">
            <a:avLst/>
          </a:prstGeom>
          <a:solidFill>
            <a:srgbClr val="0d3b6e"/>
          </a:solidFill>
          <a:ln w="12700">
            <a:solidFill>
              <a:srgbClr val="a8dad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960120" y="29991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STAGE 1: XGBoost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960120" y="3300840"/>
            <a:ext cx="26514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Supervised · SMOTE balanced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Known attack signatures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5486400" y="2953440"/>
            <a:ext cx="2742840" cy="776880"/>
          </a:xfrm>
          <a:prstGeom prst="rect">
            <a:avLst/>
          </a:prstGeom>
          <a:solidFill>
            <a:srgbClr val="064e3b"/>
          </a:solidFill>
          <a:ln w="12700">
            <a:solidFill>
              <a:srgbClr val="a8dad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5532120" y="29991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STAGE 2: Autoencoder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5532120" y="3300840"/>
            <a:ext cx="26514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Unsupervised · Trained on normal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Zero-day detector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7"/>
          <p:cNvSpPr/>
          <p:nvPr/>
        </p:nvSpPr>
        <p:spPr>
          <a:xfrm>
            <a:off x="2286000" y="3730680"/>
            <a:ext cx="360" cy="274320"/>
          </a:xfrm>
          <a:prstGeom prst="line">
            <a:avLst/>
          </a:prstGeom>
          <a:ln w="12700">
            <a:solidFill>
              <a:srgbClr val="a8da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6858000" y="3730680"/>
            <a:ext cx="360" cy="274320"/>
          </a:xfrm>
          <a:prstGeom prst="line">
            <a:avLst/>
          </a:prstGeom>
          <a:ln w="12700">
            <a:solidFill>
              <a:srgbClr val="a8da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9"/>
          <p:cNvSpPr/>
          <p:nvPr/>
        </p:nvSpPr>
        <p:spPr>
          <a:xfrm>
            <a:off x="2286000" y="4005000"/>
            <a:ext cx="4572000" cy="360"/>
          </a:xfrm>
          <a:prstGeom prst="line">
            <a:avLst/>
          </a:prstGeom>
          <a:ln w="12700">
            <a:solidFill>
              <a:srgbClr val="a8da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0"/>
          <p:cNvSpPr/>
          <p:nvPr/>
        </p:nvSpPr>
        <p:spPr>
          <a:xfrm>
            <a:off x="4572000" y="4005000"/>
            <a:ext cx="360" cy="274320"/>
          </a:xfrm>
          <a:prstGeom prst="line">
            <a:avLst/>
          </a:prstGeom>
          <a:ln w="12700">
            <a:solidFill>
              <a:srgbClr val="a8da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1"/>
          <p:cNvSpPr/>
          <p:nvPr/>
        </p:nvSpPr>
        <p:spPr>
          <a:xfrm>
            <a:off x="3108960" y="4279320"/>
            <a:ext cx="2925720" cy="639720"/>
          </a:xfrm>
          <a:prstGeom prst="rect">
            <a:avLst/>
          </a:prstGeom>
          <a:solidFill>
            <a:srgbClr val="00a896"/>
          </a:solidFill>
          <a:ln w="12700">
            <a:solidFill>
              <a:srgbClr val="a8dad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2"/>
          <p:cNvSpPr/>
          <p:nvPr/>
        </p:nvSpPr>
        <p:spPr>
          <a:xfrm>
            <a:off x="3154680" y="43250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CASCADE: OR Fusion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3"/>
          <p:cNvSpPr/>
          <p:nvPr/>
        </p:nvSpPr>
        <p:spPr>
          <a:xfrm>
            <a:off x="3154680" y="46267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Flag if XGBoost OR AE detects anomaly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4114800" y="32004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If XGB misses it →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METHODOLOGY DEEP DIVE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365760" y="914400"/>
            <a:ext cx="3931560" cy="393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365760" y="914400"/>
            <a:ext cx="3931560" cy="4021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457200" y="94176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XGBoost (Stage 1)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502920" y="1417320"/>
            <a:ext cx="365724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SMOTE (0.25 ratio) applied before training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Prevents class imbalance bias toward normal class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eval_metric: logloss, random_state: 42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Predicts at time-window level, aggregated to node level via max vote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Strength: known black hole patterns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Weakness: fails on low-intensity or novel attacks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6"/>
          <p:cNvSpPr/>
          <p:nvPr/>
        </p:nvSpPr>
        <p:spPr>
          <a:xfrm>
            <a:off x="4846320" y="914400"/>
            <a:ext cx="3931560" cy="393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7"/>
          <p:cNvSpPr/>
          <p:nvPr/>
        </p:nvSpPr>
        <p:spPr>
          <a:xfrm>
            <a:off x="4846320" y="914400"/>
            <a:ext cx="3931560" cy="4021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4937760" y="94176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Autoencoder (Stage 2)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4983480" y="1417320"/>
            <a:ext cx="365724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Architecture: 8 → 4 → 8 → dim (linear output)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Trained only on normal traffic (Label=0)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Optimizer: Adam | Loss: MSE | Epochs: 40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EarlyStopping (patience=5)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Critical Threshold = 2× max train MSE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High reconstruction error → anomalous node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RESULTS: NODE-LEVEL DETECTION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365760" y="91440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Scenario A: 5 Malicious Nodes (5% attack rate)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8" name="Table 0"/>
          <p:cNvGraphicFramePr/>
          <p:nvPr/>
        </p:nvGraphicFramePr>
        <p:xfrm>
          <a:off x="365760" y="1325880"/>
          <a:ext cx="8412120" cy="868320"/>
        </p:xfrm>
        <a:graphic>
          <a:graphicData uri="http://schemas.openxmlformats.org/drawingml/2006/table">
            <a:tbl>
              <a:tblPr/>
              <a:tblGrid>
                <a:gridCol w="1682280"/>
                <a:gridCol w="1682280"/>
                <a:gridCol w="1682280"/>
                <a:gridCol w="1682280"/>
                <a:gridCol w="1682280"/>
              </a:tblGrid>
              <a:tr h="2894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Precision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Recall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F1-Score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Accuracy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XGBoost (baseline)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0.00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0.00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0.00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93%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280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Cascade (ours)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280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0.71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1b7a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1.00 ✓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280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0.83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280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98%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9" name="Text 3"/>
          <p:cNvSpPr/>
          <p:nvPr/>
        </p:nvSpPr>
        <p:spPr>
          <a:xfrm>
            <a:off x="365760" y="237744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Scenario B: 10 Malicious Nodes (10% attack rate)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0" name="Table 1"/>
          <p:cNvGraphicFramePr/>
          <p:nvPr/>
        </p:nvGraphicFramePr>
        <p:xfrm>
          <a:off x="365760" y="2788920"/>
          <a:ext cx="8412120" cy="868320"/>
        </p:xfrm>
        <a:graphic>
          <a:graphicData uri="http://schemas.openxmlformats.org/drawingml/2006/table">
            <a:tbl>
              <a:tblPr/>
              <a:tblGrid>
                <a:gridCol w="1682280"/>
                <a:gridCol w="1682280"/>
                <a:gridCol w="1682280"/>
                <a:gridCol w="1682280"/>
                <a:gridCol w="1682280"/>
              </a:tblGrid>
              <a:tr h="2894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Precision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Recall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F1-Score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Accuracy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solidFill>
                      <a:srgbClr val="1b3a5c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XGBoost (baseline)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0.77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1.00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0.87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97%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280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Cascade (ours)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280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0.71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1b7a3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1.00 ✓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280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0.83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2809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96%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bd5e1"/>
                      </a:solidFill>
                      <a:prstDash val="solid"/>
                    </a:lnL>
                    <a:lnR w="12240">
                      <a:solidFill>
                        <a:srgbClr val="cbd5e1"/>
                      </a:solidFill>
                      <a:prstDash val="solid"/>
                    </a:lnR>
                    <a:lnT w="12240">
                      <a:solidFill>
                        <a:srgbClr val="cbd5e1"/>
                      </a:solidFill>
                      <a:prstDash val="solid"/>
                    </a:lnT>
                    <a:lnB w="1224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1" name="Shape 4"/>
          <p:cNvSpPr/>
          <p:nvPr/>
        </p:nvSpPr>
        <p:spPr>
          <a:xfrm>
            <a:off x="365760" y="3840480"/>
            <a:ext cx="8412120" cy="100548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548640" y="3886200"/>
            <a:ext cx="8137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🔑  Key Insight: </a:t>
            </a: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Cascade achieves 100% Recall on attack class in BOTH scenarios. Zero Sink hole nodes are missed. </a:t>
            </a:r>
            <a:r>
              <a:rPr lang="en-US" sz="1300" b="0" i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The Autoencoder catches the low-intensity attacks (5-node scenario) that XGBoost alone completely misses.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CONFUSION MATRICES (NODE-LEVEL)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274320" y="822960"/>
            <a:ext cx="3931560" cy="402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457200" y="868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 Malicious Nodes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365760" y="10515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XGBoost Alone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914400" y="1463040"/>
            <a:ext cx="1462680" cy="65808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914400" y="15361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93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914400" y="18655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2377440" y="1463040"/>
            <a:ext cx="1462680" cy="65808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2377440" y="15361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2377440" y="18655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FP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914400" y="2121480"/>
            <a:ext cx="1462680" cy="65808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914400" y="219456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914400" y="252360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2377440" y="2121480"/>
            <a:ext cx="1462680" cy="65808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2377440" y="219456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b7a3e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2377440" y="252360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TP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914400" y="12070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Predicted →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914400" y="132588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Normal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2377440" y="132588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Attack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0"/>
          <p:cNvSpPr/>
          <p:nvPr/>
        </p:nvSpPr>
        <p:spPr>
          <a:xfrm>
            <a:off x="365760" y="278892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Cascade (Ours) ✓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1"/>
          <p:cNvSpPr/>
          <p:nvPr/>
        </p:nvSpPr>
        <p:spPr>
          <a:xfrm>
            <a:off x="914400" y="3200400"/>
            <a:ext cx="1462680" cy="65808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2"/>
          <p:cNvSpPr/>
          <p:nvPr/>
        </p:nvSpPr>
        <p:spPr>
          <a:xfrm>
            <a:off x="914400" y="327348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93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3"/>
          <p:cNvSpPr/>
          <p:nvPr/>
        </p:nvSpPr>
        <p:spPr>
          <a:xfrm>
            <a:off x="914400" y="360288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4"/>
          <p:cNvSpPr/>
          <p:nvPr/>
        </p:nvSpPr>
        <p:spPr>
          <a:xfrm>
            <a:off x="2377440" y="3200400"/>
            <a:ext cx="1462680" cy="65808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5"/>
          <p:cNvSpPr/>
          <p:nvPr/>
        </p:nvSpPr>
        <p:spPr>
          <a:xfrm>
            <a:off x="2377440" y="327348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6"/>
          <p:cNvSpPr/>
          <p:nvPr/>
        </p:nvSpPr>
        <p:spPr>
          <a:xfrm>
            <a:off x="2377440" y="360288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FP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7"/>
          <p:cNvSpPr/>
          <p:nvPr/>
        </p:nvSpPr>
        <p:spPr>
          <a:xfrm>
            <a:off x="914400" y="3858840"/>
            <a:ext cx="1462680" cy="65808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8"/>
          <p:cNvSpPr/>
          <p:nvPr/>
        </p:nvSpPr>
        <p:spPr>
          <a:xfrm>
            <a:off x="914400" y="39319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9"/>
          <p:cNvSpPr/>
          <p:nvPr/>
        </p:nvSpPr>
        <p:spPr>
          <a:xfrm>
            <a:off x="914400" y="426096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0"/>
          <p:cNvSpPr/>
          <p:nvPr/>
        </p:nvSpPr>
        <p:spPr>
          <a:xfrm>
            <a:off x="2377440" y="3858840"/>
            <a:ext cx="1462680" cy="65808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1"/>
          <p:cNvSpPr/>
          <p:nvPr/>
        </p:nvSpPr>
        <p:spPr>
          <a:xfrm>
            <a:off x="2377440" y="39319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b7a3e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2"/>
          <p:cNvSpPr/>
          <p:nvPr/>
        </p:nvSpPr>
        <p:spPr>
          <a:xfrm>
            <a:off x="2377440" y="426096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TP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3"/>
          <p:cNvSpPr/>
          <p:nvPr/>
        </p:nvSpPr>
        <p:spPr>
          <a:xfrm>
            <a:off x="914400" y="294444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Predicted →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4"/>
          <p:cNvSpPr/>
          <p:nvPr/>
        </p:nvSpPr>
        <p:spPr>
          <a:xfrm>
            <a:off x="914400" y="306324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Normal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5"/>
          <p:cNvSpPr/>
          <p:nvPr/>
        </p:nvSpPr>
        <p:spPr>
          <a:xfrm>
            <a:off x="2377440" y="306324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Attack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6"/>
          <p:cNvSpPr/>
          <p:nvPr/>
        </p:nvSpPr>
        <p:spPr>
          <a:xfrm>
            <a:off x="4937760" y="822960"/>
            <a:ext cx="3931560" cy="402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7"/>
          <p:cNvSpPr/>
          <p:nvPr/>
        </p:nvSpPr>
        <p:spPr>
          <a:xfrm>
            <a:off x="5120640" y="868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 Malicious Nodes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8"/>
          <p:cNvSpPr/>
          <p:nvPr/>
        </p:nvSpPr>
        <p:spPr>
          <a:xfrm>
            <a:off x="5029200" y="10515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XGBoost Alone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9"/>
          <p:cNvSpPr/>
          <p:nvPr/>
        </p:nvSpPr>
        <p:spPr>
          <a:xfrm>
            <a:off x="5577840" y="1463040"/>
            <a:ext cx="1462680" cy="65808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0"/>
          <p:cNvSpPr/>
          <p:nvPr/>
        </p:nvSpPr>
        <p:spPr>
          <a:xfrm>
            <a:off x="5577840" y="15361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87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1"/>
          <p:cNvSpPr/>
          <p:nvPr/>
        </p:nvSpPr>
        <p:spPr>
          <a:xfrm>
            <a:off x="5577840" y="18655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2"/>
          <p:cNvSpPr/>
          <p:nvPr/>
        </p:nvSpPr>
        <p:spPr>
          <a:xfrm>
            <a:off x="7040880" y="1463040"/>
            <a:ext cx="1462680" cy="65808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43"/>
          <p:cNvSpPr/>
          <p:nvPr/>
        </p:nvSpPr>
        <p:spPr>
          <a:xfrm>
            <a:off x="7040880" y="15361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4"/>
          <p:cNvSpPr/>
          <p:nvPr/>
        </p:nvSpPr>
        <p:spPr>
          <a:xfrm>
            <a:off x="7040880" y="18655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FP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45"/>
          <p:cNvSpPr/>
          <p:nvPr/>
        </p:nvSpPr>
        <p:spPr>
          <a:xfrm>
            <a:off x="5577840" y="2121480"/>
            <a:ext cx="1462680" cy="65808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6"/>
          <p:cNvSpPr/>
          <p:nvPr/>
        </p:nvSpPr>
        <p:spPr>
          <a:xfrm>
            <a:off x="5577840" y="219456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7"/>
          <p:cNvSpPr/>
          <p:nvPr/>
        </p:nvSpPr>
        <p:spPr>
          <a:xfrm>
            <a:off x="5577840" y="252360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8"/>
          <p:cNvSpPr/>
          <p:nvPr/>
        </p:nvSpPr>
        <p:spPr>
          <a:xfrm>
            <a:off x="7040880" y="2121480"/>
            <a:ext cx="1462680" cy="65808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9"/>
          <p:cNvSpPr/>
          <p:nvPr/>
        </p:nvSpPr>
        <p:spPr>
          <a:xfrm>
            <a:off x="7040880" y="219456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b7a3e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0"/>
          <p:cNvSpPr/>
          <p:nvPr/>
        </p:nvSpPr>
        <p:spPr>
          <a:xfrm>
            <a:off x="7040880" y="252360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TP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1"/>
          <p:cNvSpPr/>
          <p:nvPr/>
        </p:nvSpPr>
        <p:spPr>
          <a:xfrm>
            <a:off x="5577840" y="12070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Predicted →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2"/>
          <p:cNvSpPr/>
          <p:nvPr/>
        </p:nvSpPr>
        <p:spPr>
          <a:xfrm>
            <a:off x="5577840" y="132588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Normal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3"/>
          <p:cNvSpPr/>
          <p:nvPr/>
        </p:nvSpPr>
        <p:spPr>
          <a:xfrm>
            <a:off x="7040880" y="132588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Attack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4"/>
          <p:cNvSpPr/>
          <p:nvPr/>
        </p:nvSpPr>
        <p:spPr>
          <a:xfrm>
            <a:off x="5029200" y="278892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Cascade (Ours) ✓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55"/>
          <p:cNvSpPr/>
          <p:nvPr/>
        </p:nvSpPr>
        <p:spPr>
          <a:xfrm>
            <a:off x="5577840" y="3200400"/>
            <a:ext cx="1462680" cy="65808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6"/>
          <p:cNvSpPr/>
          <p:nvPr/>
        </p:nvSpPr>
        <p:spPr>
          <a:xfrm>
            <a:off x="5577840" y="327348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86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7"/>
          <p:cNvSpPr/>
          <p:nvPr/>
        </p:nvSpPr>
        <p:spPr>
          <a:xfrm>
            <a:off x="5577840" y="360288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58"/>
          <p:cNvSpPr/>
          <p:nvPr/>
        </p:nvSpPr>
        <p:spPr>
          <a:xfrm>
            <a:off x="7040880" y="3200400"/>
            <a:ext cx="1462680" cy="65808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9"/>
          <p:cNvSpPr/>
          <p:nvPr/>
        </p:nvSpPr>
        <p:spPr>
          <a:xfrm>
            <a:off x="7040880" y="327348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0"/>
          <p:cNvSpPr/>
          <p:nvPr/>
        </p:nvSpPr>
        <p:spPr>
          <a:xfrm>
            <a:off x="7040880" y="360288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FP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61"/>
          <p:cNvSpPr/>
          <p:nvPr/>
        </p:nvSpPr>
        <p:spPr>
          <a:xfrm>
            <a:off x="5577840" y="3858840"/>
            <a:ext cx="1462680" cy="658080"/>
          </a:xfrm>
          <a:prstGeom prst="rect">
            <a:avLst/>
          </a:prstGeom>
          <a:solidFill>
            <a:srgbClr val="fee2e2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2"/>
          <p:cNvSpPr/>
          <p:nvPr/>
        </p:nvSpPr>
        <p:spPr>
          <a:xfrm>
            <a:off x="5577840" y="39319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0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3"/>
          <p:cNvSpPr/>
          <p:nvPr/>
        </p:nvSpPr>
        <p:spPr>
          <a:xfrm>
            <a:off x="5577840" y="426096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64"/>
          <p:cNvSpPr/>
          <p:nvPr/>
        </p:nvSpPr>
        <p:spPr>
          <a:xfrm>
            <a:off x="7040880" y="3858840"/>
            <a:ext cx="1462680" cy="65808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5"/>
          <p:cNvSpPr/>
          <p:nvPr/>
        </p:nvSpPr>
        <p:spPr>
          <a:xfrm>
            <a:off x="7040880" y="3931920"/>
            <a:ext cx="1462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b7a3e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6"/>
          <p:cNvSpPr/>
          <p:nvPr/>
        </p:nvSpPr>
        <p:spPr>
          <a:xfrm>
            <a:off x="7040880" y="426096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TP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67"/>
          <p:cNvSpPr/>
          <p:nvPr/>
        </p:nvSpPr>
        <p:spPr>
          <a:xfrm>
            <a:off x="5577840" y="294444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Predicted →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8"/>
          <p:cNvSpPr/>
          <p:nvPr/>
        </p:nvSpPr>
        <p:spPr>
          <a:xfrm>
            <a:off x="5577840" y="306324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Normal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9"/>
          <p:cNvSpPr/>
          <p:nvPr/>
        </p:nvSpPr>
        <p:spPr>
          <a:xfrm>
            <a:off x="7040880" y="3063240"/>
            <a:ext cx="1462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Attack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CONCLUSIONS &amp; FUTURE WORK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365760" y="914400"/>
            <a:ext cx="4023000" cy="712800"/>
          </a:xfrm>
          <a:prstGeom prst="rect">
            <a:avLst/>
          </a:prstGeom>
          <a:solidFill>
            <a:srgbClr val="1b3a5c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365760" y="914400"/>
            <a:ext cx="72720" cy="712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548640" y="9511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100% Recall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548640" y="121608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Zero missed black hole nodes in both test scenarios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6"/>
          <p:cNvSpPr/>
          <p:nvPr/>
        </p:nvSpPr>
        <p:spPr>
          <a:xfrm>
            <a:off x="365760" y="1719000"/>
            <a:ext cx="4023000" cy="712800"/>
          </a:xfrm>
          <a:prstGeom prst="rect">
            <a:avLst/>
          </a:prstGeom>
          <a:solidFill>
            <a:srgbClr val="1b3a5c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>
            <a:off x="365760" y="1719000"/>
            <a:ext cx="72720" cy="712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548640" y="17557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Cascade Advantage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548640" y="202068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AE recovers the 5-node case that XGBoost fully misses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365760" y="2523600"/>
            <a:ext cx="4023000" cy="712800"/>
          </a:xfrm>
          <a:prstGeom prst="rect">
            <a:avLst/>
          </a:prstGeom>
          <a:solidFill>
            <a:srgbClr val="1b3a5c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365760" y="2523600"/>
            <a:ext cx="72720" cy="712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548640" y="25603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Conservative Threshold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3"/>
          <p:cNvSpPr/>
          <p:nvPr/>
        </p:nvSpPr>
        <p:spPr>
          <a:xfrm>
            <a:off x="548640" y="28256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2× max MSE limits false positives from the autoencoder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4"/>
          <p:cNvSpPr/>
          <p:nvPr/>
        </p:nvSpPr>
        <p:spPr>
          <a:xfrm>
            <a:off x="365760" y="3328560"/>
            <a:ext cx="4023000" cy="712800"/>
          </a:xfrm>
          <a:prstGeom prst="rect">
            <a:avLst/>
          </a:prstGeom>
          <a:solidFill>
            <a:srgbClr val="1b3a5c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5"/>
          <p:cNvSpPr/>
          <p:nvPr/>
        </p:nvSpPr>
        <p:spPr>
          <a:xfrm>
            <a:off x="365760" y="3328560"/>
            <a:ext cx="72720" cy="712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6"/>
          <p:cNvSpPr/>
          <p:nvPr/>
        </p:nvSpPr>
        <p:spPr>
          <a:xfrm>
            <a:off x="548640" y="33649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Scenario Generalization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7"/>
          <p:cNvSpPr/>
          <p:nvPr/>
        </p:nvSpPr>
        <p:spPr>
          <a:xfrm>
            <a:off x="548640" y="36302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a8dadc"/>
                </a:solidFill>
                <a:effectLst/>
                <a:uFillTx/>
                <a:latin typeface="Calibri"/>
                <a:ea typeface="Calibri"/>
              </a:rPr>
              <a:t>Train on 0/3/7 nodes, test on 5/10 — unseen attack densities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8"/>
          <p:cNvSpPr/>
          <p:nvPr/>
        </p:nvSpPr>
        <p:spPr>
          <a:xfrm>
            <a:off x="4846320" y="8870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Future Work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9"/>
          <p:cNvSpPr/>
          <p:nvPr/>
        </p:nvSpPr>
        <p:spPr>
          <a:xfrm>
            <a:off x="4846320" y="1298520"/>
            <a:ext cx="38401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Real-time deployment on embedded MANET nodes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LSTM-based temporal modeling of node behavior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Federated learning — privacy-preserving IDS across nodes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 on cooperative Sink hole variants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Extend to other MANET attacks: wormhole, gray hole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0"/>
          <p:cNvSpPr/>
          <p:nvPr/>
        </p:nvSpPr>
        <p:spPr>
          <a:xfrm>
            <a:off x="0" y="4480560"/>
            <a:ext cx="9143640" cy="662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457200" y="45262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LibreOffice/25.8.4.2$Linux_X86_64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2026-03-16T17:52:19Z</dcterms:created>
  <dc:creator>Research Project</dc:creator>
  <dc:description/>
  <dc:language>en-IN</dc:language>
  <cp:lastModifiedBy/>
  <dcterms:modified xsi:type="dcterms:W3CDTF">2026-03-16T23:38:29Z</dcterms:modified>
  <cp:revision>3</cp:revision>
  <dc:subject>PptxGenJS Presentation</dc:subject>
  <dc:title>Black Hole Attack Detection in AODV MANETs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